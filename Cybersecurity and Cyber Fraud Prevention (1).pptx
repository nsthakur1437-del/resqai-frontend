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85775"/>
            <a:ext cx="11029950" cy="5886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869" y="1743670"/>
            <a:ext cx="2748111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341" y="2172295"/>
            <a:ext cx="10035316" cy="635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1" sz="4350" i="0" u="none">
                <a:solidFill>
                  <a:srgbClr val="F8FAFC"/>
                </a:solidFill>
                <a:latin typeface="Space Grotesk"/>
              </a:rPr>
              <a:t>Cybersecurity &amp; Cyber Fraud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2997993"/>
            <a:ext cx="7143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Understanding modern digital threats, defense frameworks, and practical strategies to remain safe from evolving online frauds.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744" y="1829395"/>
            <a:ext cx="1300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62212"/>
            <a:ext cx="3524250" cy="21791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62212"/>
            <a:ext cx="3524250" cy="21791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462212"/>
            <a:ext cx="3524250" cy="21791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133475"/>
            <a:ext cx="11029950" cy="5238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1949797"/>
            <a:ext cx="11029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Cybersecurity is the practice of protecting systems, networks, programs, and data from digital attacks, unauthorized access, or damage.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700337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3309937"/>
            <a:ext cx="3200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Confidentiality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671887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Ensuring sensitive data is accessible only to authorized users through encryption and identity controls.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700337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3309937"/>
            <a:ext cx="3200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71887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Guaranteeing that information remains accurate, unaltered, and trustworthy throughout its lifecycle.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4850" y="2700337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4850" y="3309937"/>
            <a:ext cx="3200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Availability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850" y="3671887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Maintaining reliable access to systems, networks, and data whenever authorized users require them.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2814637"/>
            <a:ext cx="2857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2012" y="2814637"/>
            <a:ext cx="25717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9150" y="2814637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What is Cybersecurity?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57536"/>
            <a:ext cx="3524250" cy="21791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957536"/>
            <a:ext cx="3524250" cy="21791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1957536"/>
            <a:ext cx="3524250" cy="21791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133475"/>
            <a:ext cx="11029950" cy="5238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195661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2805261"/>
            <a:ext cx="3200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AI-Driven Scams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167211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Generative AI and deepfake audio/video mimic executives or relatives to bypass human trust and execute financial fraud.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195661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2805261"/>
            <a:ext cx="3200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Financial &amp; UPI Frauds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67211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Spoofed banking calls, fake QR codes, and malicious payment links target digital payment channels and mobile banking.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4850" y="2195661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24850" y="2805261"/>
            <a:ext cx="3200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Multi-Extortion Ransomware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4850" y="3167211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Attacks encrypt critical files and threaten public release of stolen personal data unless ransom demands are met.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2309961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4875" y="2309961"/>
            <a:ext cx="1714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3437" y="2309961"/>
            <a:ext cx="20002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Modern Cyber Threat Landscape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342977"/>
            <a:ext cx="11029950" cy="302924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133475"/>
            <a:ext cx="11029950" cy="5238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133475"/>
            <a:ext cx="11029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Cybercriminals follow a structured progression to execute scams. Interrupting any stage breaks the attack vector.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81102"/>
            <a:ext cx="10981372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0B981"/>
                </a:solidFill>
                <a:latin typeface="Space Grotesk"/>
              </a:rPr>
              <a:t>Defense Intervention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895427"/>
            <a:ext cx="10553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Pause before clicking or acting. Verifying requests through a trusted secondary channel breaks the chain between Step 2 and Step 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Modern Attack Lifecycle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17365"/>
            <a:ext cx="5372100" cy="34708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64605" y="2265015"/>
            <a:ext cx="512064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Zero Trust Safety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2548979"/>
            <a:ext cx="50673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Adopt Passkeys &amp; MFA: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Move away from passwords to biometric passkeys and authenticator apps.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188940"/>
            <a:ext cx="50673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Verify Out-of-Band: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Never trust caller IDs or emergency messages without direct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28901"/>
            <a:ext cx="50673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Minimize Digital Footprint: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Limit public personal details used for social engineering 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468862"/>
            <a:ext cx="50673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Patch &amp; Update Promptly: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Keep OS, apps, and security tools updated automatically.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572791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12752"/>
            <a:ext cx="21907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52713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492674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Essential Cyber Safety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914" y="485775"/>
            <a:ext cx="175602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5500" y="914400"/>
            <a:ext cx="8001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Space Grotesk"/>
              </a:rPr>
              <a:t>Phishing Attacks &amp;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0025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Phishing remains the #1 initial entry point for cyber frauds worldwide. Let's analyze how it functions and how to defeat it.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789" y="571500"/>
            <a:ext cx="1300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43100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151757"/>
            <a:ext cx="53721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Phishing is a social engineering attack where bad actors deceive individuals into sharing sensitive credentials, financial details, or downloading malware.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52625"/>
            <a:ext cx="5353050" cy="3600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301156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4099321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4897487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4900" y="3225998"/>
            <a:ext cx="3200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Space Grotesk"/>
              </a:rPr>
              <a:t>Email Phishing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406973"/>
            <a:ext cx="30480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Spoofed emails disguising as legitimate institutions.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4024163"/>
            <a:ext cx="348043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Space Grotesk"/>
              </a:rPr>
              <a:t>Smishing (SMS Phishing)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4205138"/>
            <a:ext cx="33147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Text messages warning of urgent bank or package issues.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4822328"/>
            <a:ext cx="321040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Space Grotesk"/>
              </a:rPr>
              <a:t>Vishing (Voice/AI Cloning)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5003303"/>
            <a:ext cx="30575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Phone calls using synthetic voices to extract secrets.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What is Phishing Fraud?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235648"/>
            <a:ext cx="5400675" cy="11486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4235648"/>
            <a:ext cx="5400675" cy="11486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133475"/>
            <a:ext cx="11029950" cy="5238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2121396"/>
            <a:ext cx="11029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Visualizing the step-by-step mechanism attackers use to execute a credential harvesting or financial scam.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473773"/>
            <a:ext cx="5170646" cy="200025"/>
          </a:xfrm>
          <a:prstGeom prst="rect">
            <a:avLst/>
          </a:prstGeom>
          <a:noFill/>
        </p:spPr>
        <p:txBody>
          <a:bodyPr wrap="square" lIns="149423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F4444"/>
                </a:solidFill>
                <a:latin typeface="Space Grotesk"/>
              </a:rPr>
              <a:t>Common Warning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749998"/>
            <a:ext cx="49244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Generic greetings, misspelled domain names (e.g. paypa1.com), artificial panic triggers, and requests for secret OTPs.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4473773"/>
            <a:ext cx="5170646" cy="200025"/>
          </a:xfrm>
          <a:prstGeom prst="rect">
            <a:avLst/>
          </a:prstGeom>
          <a:noFill/>
        </p:spPr>
        <p:txBody>
          <a:bodyPr wrap="square" lIns="149423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0B981"/>
                </a:solidFill>
                <a:latin typeface="Space Grotesk"/>
              </a:rPr>
              <a:t>Immediate Defense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4749998"/>
            <a:ext cx="49244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Never click direct links in unexpected emails. Open a browser and type the official URL manually.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4492823"/>
            <a:ext cx="149423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4492823"/>
            <a:ext cx="149423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Anatomy of a Phishing Attack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73771"/>
            <a:ext cx="5400675" cy="33581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073771"/>
            <a:ext cx="5400675" cy="33581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311896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2921496"/>
            <a:ext cx="517064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7171"/>
                </a:solidFill>
                <a:latin typeface="Space Grotesk"/>
              </a:rPr>
              <a:t>Red Flag Signals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311896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8425" y="2921496"/>
            <a:ext cx="517064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4D399"/>
                </a:solidFill>
                <a:latin typeface="Space Grotesk"/>
              </a:rPr>
              <a:t>Preventative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426321"/>
            <a:ext cx="46196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Urgent Threats: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Claims of immediate account blockage or legal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4066282"/>
            <a:ext cx="46196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Mismatched Senders: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Email address domain doesn't match the company name.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4706242"/>
            <a:ext cx="46196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Unusual Attachments: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Unexpected files (.zip, .exe, or passworded PDFs).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2426196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53225" y="3426321"/>
            <a:ext cx="46196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FIDO2 Hardware Keys / Passkeys: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Immune to phishing interception.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4066282"/>
            <a:ext cx="461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URL Verification: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Hover over links to confirm destination domain.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4462462"/>
            <a:ext cx="46196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Report Suspicious Activity: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Flag phishing emails to security team immediately.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3450133"/>
            <a:ext cx="123825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090094"/>
            <a:ext cx="123825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730055"/>
            <a:ext cx="123825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450133"/>
            <a:ext cx="1524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4090094"/>
            <a:ext cx="1524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4486275"/>
            <a:ext cx="152400" cy="1809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Spotting &amp; Preventing Phishing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4314527"/>
            <a:ext cx="5429250" cy="695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85775"/>
            <a:ext cx="11029950" cy="452407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863" y="485775"/>
            <a:ext cx="2086123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5276" y="914400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F8FAFC"/>
                </a:solidFill>
                <a:latin typeface="Space Grotesk"/>
              </a:rPr>
              <a:t>If You Suspect a Cyber Fraud...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2250" y="1562100"/>
            <a:ext cx="6667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Act quickly! Rapid response dramatically minimizes damage and stops fraud progression.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5738" y="571500"/>
            <a:ext cx="149125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025" y="4585989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95725" y="4562177"/>
            <a:ext cx="1524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8BDF8"/>
                </a:solidFill>
                <a:latin typeface="Plus Jakarta Sans"/>
              </a:rPr>
              <a:t>Cyber Helpline: </a:t>
            </a:r>
            <a:r>
              <a:rPr b="1" sz="1200" i="0" u="none">
                <a:solidFill>
                  <a:srgbClr val="38BDF8"/>
                </a:solidFill>
                <a:latin typeface="Plus Jakarta Sans"/>
              </a:rPr>
              <a:t>1930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0725" y="4585989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67425" y="4562177"/>
            <a:ext cx="24955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8BDF8"/>
                </a:solidFill>
                <a:latin typeface="Plus Jakarta Sans"/>
              </a:rPr>
              <a:t>National Portal: </a:t>
            </a:r>
            <a:r>
              <a:rPr b="1" sz="1200" i="0" u="none">
                <a:solidFill>
                  <a:srgbClr val="38BDF8"/>
                </a:solidFill>
                <a:latin typeface="Plus Jakarta Sans"/>
              </a:rPr>
              <a:t>cybercrime.gov.in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25" y="3514576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19500" y="3508027"/>
            <a:ext cx="60483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https://itinsightsroc.com/wp-content/uploads/2024/01/2025-11-19-Blog-Cybersecurity-Part-2.jpg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0" y="3753742"/>
            <a:ext cx="60483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itinsightsroc.com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